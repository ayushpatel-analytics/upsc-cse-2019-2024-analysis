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7E79"/>
          </a:solidFill>
          <a:ln>
            <a:solidFill>
              <a:srgbClr val="227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D7D3"/>
                </a:solidFill>
                <a:latin typeface="Aptos"/>
              </a:rPr>
              <a:t>PORTFOLIO PROJECT  /  BUSINESS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69494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500" b="1" dirty="0">
                <a:solidFill>
                  <a:srgbClr val="FFFFFF"/>
                </a:solidFill>
                <a:latin typeface="Aptos"/>
              </a:rPr>
              <a:t>UPSC Civil Services
Examination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154680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BE0E4"/>
                </a:solidFill>
                <a:latin typeface="Aptos"/>
              </a:rPr>
              <a:t>2019–2024  |  Participation, Progression &amp; Recommendation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3977639"/>
            <a:ext cx="1920240" cy="54864"/>
          </a:xfrm>
          <a:prstGeom prst="rect">
            <a:avLst/>
          </a:prstGeom>
          <a:solidFill>
            <a:srgbClr val="D67E36"/>
          </a:solidFill>
          <a:ln>
            <a:solidFill>
              <a:srgbClr val="D6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4224528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Ayush Patel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681728"/>
            <a:ext cx="594360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150" b="0" dirty="0">
                <a:solidFill>
                  <a:srgbClr val="B9C1C8"/>
                </a:solidFill>
                <a:latin typeface="Aptos"/>
              </a:rPr>
              <a:t>Excel </a:t>
            </a:r>
            <a:r>
              <a:rPr lang="en-IN" sz="1150" dirty="0">
                <a:solidFill>
                  <a:srgbClr val="B9C1C8"/>
                </a:solidFill>
                <a:latin typeface="Aptos"/>
              </a:rPr>
              <a:t>•</a:t>
            </a:r>
            <a:r>
              <a:rPr lang="en-US" sz="1150" b="0" dirty="0">
                <a:solidFill>
                  <a:srgbClr val="B9C1C8"/>
                </a:solidFill>
                <a:latin typeface="Aptos"/>
              </a:rPr>
              <a:t> </a:t>
            </a:r>
            <a:r>
              <a:rPr sz="1150" b="0" dirty="0">
                <a:solidFill>
                  <a:srgbClr val="B9C1C8"/>
                </a:solidFill>
                <a:latin typeface="Aptos"/>
              </a:rPr>
              <a:t>SQL  •  </a:t>
            </a:r>
            <a:r>
              <a:rPr sz="1150" b="0" dirty="0" err="1">
                <a:solidFill>
                  <a:srgbClr val="B9C1C8"/>
                </a:solidFill>
                <a:latin typeface="Aptos"/>
              </a:rPr>
              <a:t>BigQuery</a:t>
            </a:r>
            <a:r>
              <a:rPr sz="1150" b="0" dirty="0">
                <a:solidFill>
                  <a:srgbClr val="B9C1C8"/>
                </a:solidFill>
                <a:latin typeface="Aptos"/>
              </a:rPr>
              <a:t>  •  Power BI  •  DAX</a:t>
            </a:r>
          </a:p>
        </p:txBody>
      </p:sp>
      <p:sp>
        <p:nvSpPr>
          <p:cNvPr id="9" name="Oval 8"/>
          <p:cNvSpPr/>
          <p:nvPr/>
        </p:nvSpPr>
        <p:spPr>
          <a:xfrm>
            <a:off x="8183879" y="5440680"/>
            <a:ext cx="164592" cy="164592"/>
          </a:xfrm>
          <a:prstGeom prst="ellipse">
            <a:avLst/>
          </a:prstGeom>
          <a:solidFill>
            <a:srgbClr val="D67E36"/>
          </a:solidFill>
          <a:ln>
            <a:solidFill>
              <a:srgbClr val="D6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339327" y="5495544"/>
            <a:ext cx="374904" cy="45720"/>
          </a:xfrm>
          <a:prstGeom prst="rect">
            <a:avLst/>
          </a:prstGeom>
          <a:solidFill>
            <a:srgbClr val="536570"/>
          </a:solidFill>
          <a:ln>
            <a:solidFill>
              <a:srgbClr val="53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74152" y="57150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2B9"/>
                </a:solidFill>
                <a:latin typeface="Aptos"/>
              </a:rPr>
              <a:t>2019</a:t>
            </a:r>
          </a:p>
        </p:txBody>
      </p:sp>
      <p:sp>
        <p:nvSpPr>
          <p:cNvPr id="12" name="Oval 11"/>
          <p:cNvSpPr/>
          <p:nvPr/>
        </p:nvSpPr>
        <p:spPr>
          <a:xfrm>
            <a:off x="8714232" y="5440680"/>
            <a:ext cx="164592" cy="164592"/>
          </a:xfrm>
          <a:prstGeom prst="ellipse">
            <a:avLst/>
          </a:prstGeom>
          <a:solidFill>
            <a:srgbClr val="227E79"/>
          </a:solidFill>
          <a:ln>
            <a:solidFill>
              <a:srgbClr val="227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869680" y="5495544"/>
            <a:ext cx="374904" cy="45720"/>
          </a:xfrm>
          <a:prstGeom prst="rect">
            <a:avLst/>
          </a:prstGeom>
          <a:solidFill>
            <a:srgbClr val="536570"/>
          </a:solidFill>
          <a:ln>
            <a:solidFill>
              <a:srgbClr val="53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04504" y="57150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2B9"/>
                </a:solidFill>
                <a:latin typeface="Aptos"/>
              </a:rPr>
              <a:t>2020</a:t>
            </a:r>
          </a:p>
        </p:txBody>
      </p:sp>
      <p:sp>
        <p:nvSpPr>
          <p:cNvPr id="15" name="Oval 14"/>
          <p:cNvSpPr/>
          <p:nvPr/>
        </p:nvSpPr>
        <p:spPr>
          <a:xfrm>
            <a:off x="9244584" y="5440680"/>
            <a:ext cx="164592" cy="164592"/>
          </a:xfrm>
          <a:prstGeom prst="ellipse">
            <a:avLst/>
          </a:prstGeom>
          <a:solidFill>
            <a:srgbClr val="227E79"/>
          </a:solidFill>
          <a:ln>
            <a:solidFill>
              <a:srgbClr val="227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400032" y="5495544"/>
            <a:ext cx="374904" cy="45720"/>
          </a:xfrm>
          <a:prstGeom prst="rect">
            <a:avLst/>
          </a:prstGeom>
          <a:solidFill>
            <a:srgbClr val="536570"/>
          </a:solidFill>
          <a:ln>
            <a:solidFill>
              <a:srgbClr val="53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34856" y="57150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2B9"/>
                </a:solidFill>
                <a:latin typeface="Aptos"/>
              </a:rPr>
              <a:t>2021</a:t>
            </a:r>
          </a:p>
        </p:txBody>
      </p:sp>
      <p:sp>
        <p:nvSpPr>
          <p:cNvPr id="18" name="Oval 17"/>
          <p:cNvSpPr/>
          <p:nvPr/>
        </p:nvSpPr>
        <p:spPr>
          <a:xfrm>
            <a:off x="9774936" y="5440680"/>
            <a:ext cx="164592" cy="164592"/>
          </a:xfrm>
          <a:prstGeom prst="ellipse">
            <a:avLst/>
          </a:prstGeom>
          <a:solidFill>
            <a:srgbClr val="227E79"/>
          </a:solidFill>
          <a:ln>
            <a:solidFill>
              <a:srgbClr val="227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930384" y="5495544"/>
            <a:ext cx="374904" cy="45720"/>
          </a:xfrm>
          <a:prstGeom prst="rect">
            <a:avLst/>
          </a:prstGeom>
          <a:solidFill>
            <a:srgbClr val="536570"/>
          </a:solidFill>
          <a:ln>
            <a:solidFill>
              <a:srgbClr val="53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65208" y="57150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2B9"/>
                </a:solidFill>
                <a:latin typeface="Aptos"/>
              </a:rPr>
              <a:t>2022</a:t>
            </a:r>
          </a:p>
        </p:txBody>
      </p:sp>
      <p:sp>
        <p:nvSpPr>
          <p:cNvPr id="21" name="Oval 20"/>
          <p:cNvSpPr/>
          <p:nvPr/>
        </p:nvSpPr>
        <p:spPr>
          <a:xfrm>
            <a:off x="10305288" y="5440680"/>
            <a:ext cx="164592" cy="164592"/>
          </a:xfrm>
          <a:prstGeom prst="ellipse">
            <a:avLst/>
          </a:prstGeom>
          <a:solidFill>
            <a:srgbClr val="227E79"/>
          </a:solidFill>
          <a:ln>
            <a:solidFill>
              <a:srgbClr val="227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460736" y="5495544"/>
            <a:ext cx="374904" cy="45720"/>
          </a:xfrm>
          <a:prstGeom prst="rect">
            <a:avLst/>
          </a:prstGeom>
          <a:solidFill>
            <a:srgbClr val="536570"/>
          </a:solidFill>
          <a:ln>
            <a:solidFill>
              <a:srgbClr val="53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95560" y="57150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2B9"/>
                </a:solidFill>
                <a:latin typeface="Aptos"/>
              </a:rPr>
              <a:t>2023</a:t>
            </a:r>
          </a:p>
        </p:txBody>
      </p:sp>
      <p:sp>
        <p:nvSpPr>
          <p:cNvPr id="24" name="Oval 23"/>
          <p:cNvSpPr/>
          <p:nvPr/>
        </p:nvSpPr>
        <p:spPr>
          <a:xfrm>
            <a:off x="10835640" y="5440680"/>
            <a:ext cx="164592" cy="164592"/>
          </a:xfrm>
          <a:prstGeom prst="ellipse">
            <a:avLst/>
          </a:prstGeom>
          <a:solidFill>
            <a:srgbClr val="D67E36"/>
          </a:solidFill>
          <a:ln>
            <a:solidFill>
              <a:srgbClr val="D6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25912" y="57150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AB2B9"/>
                </a:solidFill>
                <a:latin typeface="Aptos"/>
              </a:rPr>
              <a:t>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48056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 six-year view of the examination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01  |  THE ANALYTICAL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232F"/>
                </a:solidFill>
                <a:latin typeface="Aptos"/>
              </a:rPr>
              <a:t>What changed across the examination pipeline?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7178"/>
                </a:solidFill>
                <a:latin typeface="Aptos"/>
              </a:rPr>
              <a:t>The project looks at the full 2019–2024 period rather than treating two endpoint years as the main comparison.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8"/>
                </a:solidFill>
                <a:latin typeface="Aptos"/>
              </a:rPr>
              <a:t>UPSC CIVIL SERVICES EXAMINATION  | 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178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9659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23591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6148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232F"/>
                </a:solidFill>
                <a:latin typeface="Aptos"/>
              </a:rPr>
              <a:t>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218688"/>
            <a:ext cx="1508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178"/>
                </a:solidFill>
                <a:latin typeface="Aptos"/>
              </a:rPr>
              <a:t>How many candidates applied?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4" y="2880360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67E36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148840"/>
            <a:ext cx="19659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27248" y="23591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276148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232F"/>
                </a:solidFill>
                <a:latin typeface="Aptos"/>
              </a:rPr>
              <a:t>Appearance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3218688"/>
            <a:ext cx="1508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178"/>
                </a:solidFill>
                <a:latin typeface="Aptos"/>
              </a:rPr>
              <a:t>How many actually appeared?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8616" y="2880360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67E3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93792" y="2148840"/>
            <a:ext cx="19659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94959" y="23591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276148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232F"/>
                </a:solidFill>
                <a:latin typeface="Aptos"/>
              </a:rPr>
              <a:t>Mains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3218688"/>
            <a:ext cx="1508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178"/>
                </a:solidFill>
                <a:latin typeface="Aptos"/>
              </a:rPr>
              <a:t>How large was the mains-qualified pool?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7" y="2880360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67E36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61504" y="2148840"/>
            <a:ext cx="19659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62672" y="23591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276148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232F"/>
                </a:solidFill>
                <a:latin typeface="Aptos"/>
              </a:rPr>
              <a:t>Interview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2" y="3218688"/>
            <a:ext cx="1508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178"/>
                </a:solidFill>
                <a:latin typeface="Aptos"/>
              </a:rPr>
              <a:t>How many reached interview?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880360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67E36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9216" y="2148840"/>
            <a:ext cx="19659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30384" y="23591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0384" y="276148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232F"/>
                </a:solidFill>
                <a:latin typeface="Aptos"/>
              </a:rPr>
              <a:t>Recommendation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0384" y="3218688"/>
            <a:ext cx="1508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178"/>
                </a:solidFill>
                <a:latin typeface="Aptos"/>
              </a:rPr>
              <a:t>How many were recommended?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70916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67E36"/>
                </a:solidFill>
                <a:latin typeface="Aptos"/>
              </a:rPr>
              <a:t>Supporting lens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10912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303A"/>
                </a:solidFill>
                <a:latin typeface="Aptos"/>
              </a:rPr>
              <a:t>Vacancies are tracked alongside recommendations to add annual capacity context.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55955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178"/>
                </a:solidFill>
                <a:latin typeface="Aptos"/>
              </a:rPr>
              <a:t>The objective is descriptive: identify patterns, changes and relationships in the published annual data — not to infer causes.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8"/>
                </a:solidFill>
                <a:latin typeface="Aptos"/>
              </a:rPr>
              <a:t>UPSC CIVIL SERVICES EXAMINATION  |  PORTFOLIO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17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02  |  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232F"/>
                </a:solidFill>
                <a:latin typeface="Aptos"/>
              </a:rPr>
              <a:t>From raw annual figures to an interactive analytical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7178"/>
                </a:solidFill>
                <a:latin typeface="Aptos"/>
              </a:rPr>
              <a:t>A compact workflow designed around reproducibility and clear business-style communication.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8"/>
                </a:solidFill>
                <a:latin typeface="Aptos"/>
              </a:rPr>
              <a:t>UPSC CIVIL SERVICES EXAMINATION  | 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178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0195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dirty="0">
                <a:solidFill>
                  <a:srgbClr val="18232F"/>
                </a:solidFill>
                <a:latin typeface="Aptos"/>
              </a:rPr>
              <a:t>Data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01952"/>
            <a:ext cx="493776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05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Organise annual examination data, standardise fields and validate the analysis table</a:t>
            </a:r>
            <a:r>
              <a:rPr lang="en-IN" sz="105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sz="1050" b="0" dirty="0">
              <a:solidFill>
                <a:schemeClr val="bg1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944368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260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8232F"/>
                </a:solidFill>
                <a:latin typeface="Aptos"/>
              </a:rPr>
              <a:t>SQL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697178"/>
                </a:solidFill>
                <a:latin typeface="Aptos"/>
              </a:rPr>
              <a:t>Aggregate applicants, appearance, progression, recommendations and vacancies.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68496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95020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8232F"/>
                </a:solidFill>
                <a:latin typeface="Aptos"/>
              </a:rPr>
              <a:t>DAX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95020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178"/>
                </a:solidFill>
                <a:latin typeface="Aptos"/>
              </a:rPr>
              <a:t>Build reusable totals and rate measures for Power BI.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92624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974336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8232F"/>
                </a:solidFill>
                <a:latin typeface="Aptos"/>
              </a:rPr>
              <a:t>Dashboard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974336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178"/>
                </a:solidFill>
                <a:latin typeface="Aptos"/>
              </a:rPr>
              <a:t>Turn the metrics into a focused 16:9 interactive dashboard.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874519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18232F"/>
          </a:solidFill>
          <a:ln>
            <a:solidFill>
              <a:srgbClr val="18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9125712" y="217627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BCDCA"/>
                </a:solidFill>
                <a:latin typeface="Aptos"/>
              </a:rPr>
              <a:t>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2340" y="3034515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 err="1">
                <a:solidFill>
                  <a:srgbClr val="FFFFFF"/>
                </a:solidFill>
                <a:latin typeface="Aptos"/>
              </a:rPr>
              <a:t>BigQuery</a:t>
            </a:r>
            <a:endParaRPr sz="15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25712" y="3491714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3995929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Power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445312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5321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67E36"/>
                </a:solidFill>
                <a:latin typeface="Aptos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486400"/>
            <a:ext cx="9601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6303A"/>
                </a:solidFill>
                <a:latin typeface="Aptos"/>
              </a:rPr>
              <a:t>A portfolio-ready dashboard that lets the viewer filter the year and inspect the examination pipeline.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8"/>
                </a:solidFill>
                <a:latin typeface="Aptos"/>
              </a:rPr>
              <a:t>UPSC CIVIL SERVICES EXAMINATION  |  PORTFOLIO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178"/>
                </a:solidFill>
                <a:latin typeface="Aptos"/>
              </a:rPr>
              <a:t>03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B81F64-98D5-23B2-E83D-EBEC79F4CF82}"/>
              </a:ext>
            </a:extLst>
          </p:cNvPr>
          <p:cNvSpPr txBox="1"/>
          <p:nvPr/>
        </p:nvSpPr>
        <p:spPr>
          <a:xfrm>
            <a:off x="9125712" y="2573096"/>
            <a:ext cx="71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chemeClr val="bg1"/>
                </a:solidFill>
                <a:latin typeface="Aptos" panose="020B0004020202020204" pitchFamily="34" charset="0"/>
              </a:rPr>
              <a:t>Excel</a:t>
            </a:r>
            <a:r>
              <a:rPr lang="en-US" dirty="0"/>
              <a:t>l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35DD16-3828-EE19-922A-FF3AFA9E88E2}"/>
              </a:ext>
            </a:extLst>
          </p:cNvPr>
          <p:cNvSpPr txBox="1"/>
          <p:nvPr/>
        </p:nvSpPr>
        <p:spPr>
          <a:xfrm>
            <a:off x="1234440" y="2091025"/>
            <a:ext cx="219456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350" b="1" dirty="0">
                <a:solidFill>
                  <a:srgbClr val="18232F"/>
                </a:solidFill>
                <a:latin typeface="Aptos"/>
              </a:rPr>
              <a:t>Excel</a:t>
            </a:r>
            <a:endParaRPr sz="1350" b="1" dirty="0">
              <a:solidFill>
                <a:srgbClr val="18232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03  |  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232F"/>
                </a:solidFill>
                <a:latin typeface="Aptos"/>
              </a:rPr>
              <a:t>Participation became a more important part of 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7178"/>
                </a:solidFill>
                <a:latin typeface="Aptos"/>
              </a:rPr>
              <a:t>The dashboard tracks applicants and candidates appeared for every year from 2019 through 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8"/>
                </a:solidFill>
                <a:latin typeface="Aptos"/>
              </a:rPr>
              <a:t>UPSC CIVIL SERVICES EXAMINATION  | 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178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3317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73152" cy="1508760"/>
          </a:xfrm>
          <a:prstGeom prst="rect">
            <a:avLst/>
          </a:prstGeom>
          <a:solidFill>
            <a:srgbClr val="227E79"/>
          </a:solidFill>
          <a:ln>
            <a:solidFill>
              <a:srgbClr val="227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19202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178"/>
                </a:solidFill>
                <a:latin typeface="Aptos"/>
              </a:rPr>
              <a:t>2019 APPEARANCE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78024"/>
            <a:ext cx="1920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8232F"/>
                </a:solidFill>
                <a:latin typeface="Aptos"/>
              </a:rPr>
              <a:t>50.8%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99232"/>
            <a:ext cx="19202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178"/>
                </a:solidFill>
                <a:latin typeface="Aptos"/>
              </a:rPr>
              <a:t>baseline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965960"/>
            <a:ext cx="23317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1965960"/>
            <a:ext cx="73152" cy="1508760"/>
          </a:xfrm>
          <a:prstGeom prst="rect">
            <a:avLst/>
          </a:prstGeom>
          <a:solidFill>
            <a:srgbClr val="D67E36"/>
          </a:solidFill>
          <a:ln>
            <a:solidFill>
              <a:srgbClr val="D6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2167128"/>
            <a:ext cx="19202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178"/>
                </a:solidFill>
                <a:latin typeface="Aptos"/>
              </a:rPr>
              <a:t>2024 APPEARANCE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478024"/>
            <a:ext cx="1920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8232F"/>
                </a:solidFill>
                <a:latin typeface="Aptos"/>
              </a:rPr>
              <a:t>58.8%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999232"/>
            <a:ext cx="19202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178"/>
                </a:solidFill>
                <a:latin typeface="Aptos"/>
              </a:rPr>
              <a:t>endpoint year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1965960"/>
            <a:ext cx="23317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06440" y="1965960"/>
            <a:ext cx="73152" cy="1508760"/>
          </a:xfrm>
          <a:prstGeom prst="rect">
            <a:avLst/>
          </a:prstGeom>
          <a:solidFill>
            <a:srgbClr val="227E79"/>
          </a:solidFill>
          <a:ln>
            <a:solidFill>
              <a:srgbClr val="227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0" y="2167128"/>
            <a:ext cx="19202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178"/>
                </a:solidFill>
                <a:latin typeface="Aptos"/>
              </a:rPr>
              <a:t>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478024"/>
            <a:ext cx="1920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8232F"/>
                </a:solidFill>
                <a:latin typeface="Aptos"/>
              </a:rPr>
              <a:t>+8.0 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999232"/>
            <a:ext cx="19202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178"/>
                </a:solidFill>
                <a:latin typeface="Aptos"/>
              </a:rPr>
              <a:t>2019 → 2024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886200"/>
            <a:ext cx="107899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16052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27E79"/>
                </a:solidFill>
                <a:latin typeface="Aptos"/>
              </a:rPr>
              <a:t>How to read the trend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507992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232F"/>
                </a:solidFill>
                <a:latin typeface="Aptos"/>
              </a:rPr>
              <a:t>Applicants and appearance counts are plotted year-by-year in Power BI. The appearance rate is the share of applicants who appeared.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102352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178"/>
                </a:solidFill>
                <a:latin typeface="Aptos"/>
              </a:rPr>
              <a:t>Across the full period, the endpoint rate is 8.0 percentage points higher than in 2019. This is a descriptive change, not a causal conclusion.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8"/>
                </a:solidFill>
                <a:latin typeface="Aptos"/>
              </a:rPr>
              <a:t>UPSC CIVIL SERVICES EXAMINATION  |  PORTFOLIO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17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04  | 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232F"/>
                </a:solidFill>
                <a:latin typeface="Aptos"/>
              </a:rPr>
              <a:t>The later-stage candidate pools expanded over the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7178"/>
                </a:solidFill>
                <a:latin typeface="Aptos"/>
              </a:rPr>
              <a:t>Mains-qualified and interview counts provide a second lens beyond headline application volume.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8"/>
                </a:solidFill>
                <a:latin typeface="Aptos"/>
              </a:rPr>
              <a:t>UPSC CIVIL SERVICES EXAMINATION  | 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178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29718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73152" cy="1572768"/>
          </a:xfrm>
          <a:prstGeom prst="rect">
            <a:avLst/>
          </a:prstGeom>
          <a:solidFill>
            <a:srgbClr val="227E79"/>
          </a:solidFill>
          <a:ln>
            <a:solidFill>
              <a:srgbClr val="227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178"/>
                </a:solidFill>
                <a:latin typeface="Aptos"/>
              </a:rPr>
              <a:t>MAINS QUALIFIED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32304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8232F"/>
                </a:solidFill>
                <a:latin typeface="Aptos"/>
              </a:rPr>
              <a:t>11,845 → 14,627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178"/>
                </a:solidFill>
                <a:latin typeface="Aptos"/>
              </a:rPr>
              <a:t>+23.5% across 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920240"/>
            <a:ext cx="29718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86200" y="1920240"/>
            <a:ext cx="73152" cy="1572768"/>
          </a:xfrm>
          <a:prstGeom prst="rect">
            <a:avLst/>
          </a:prstGeom>
          <a:solidFill>
            <a:srgbClr val="D67E36"/>
          </a:solidFill>
          <a:ln>
            <a:solidFill>
              <a:srgbClr val="D6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212140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178"/>
                </a:solidFill>
                <a:latin typeface="Aptos"/>
              </a:rPr>
              <a:t>INTERVIEW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432304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8232F"/>
                </a:solidFill>
                <a:latin typeface="Aptos"/>
              </a:rPr>
              <a:t>2,034 → 2,845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0175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178"/>
                </a:solidFill>
                <a:latin typeface="Aptos"/>
              </a:rPr>
              <a:t>+39.9% across endpoints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1920240"/>
            <a:ext cx="29718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1920240"/>
            <a:ext cx="73152" cy="1572768"/>
          </a:xfrm>
          <a:prstGeom prst="rect">
            <a:avLst/>
          </a:prstGeom>
          <a:solidFill>
            <a:srgbClr val="227E79"/>
          </a:solidFill>
          <a:ln>
            <a:solidFill>
              <a:srgbClr val="227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212140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178"/>
                </a:solidFill>
                <a:latin typeface="Aptos"/>
              </a:rPr>
              <a:t>MAINS QUALIFICATION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432304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8232F"/>
                </a:solidFill>
                <a:latin typeface="Aptos"/>
              </a:rPr>
              <a:t>2.05% → 2.51%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0175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178"/>
                </a:solidFill>
                <a:latin typeface="Aptos"/>
              </a:rPr>
              <a:t>+0.46 pp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4315968"/>
            <a:ext cx="164592" cy="164592"/>
          </a:xfrm>
          <a:prstGeom prst="ellipse">
            <a:avLst/>
          </a:prstGeom>
          <a:solidFill>
            <a:srgbClr val="227E79"/>
          </a:solidFill>
          <a:ln>
            <a:solidFill>
              <a:srgbClr val="227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8136" y="418795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232F"/>
                </a:solidFill>
                <a:latin typeface="Aptos"/>
              </a:rPr>
              <a:t>Applications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590288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178"/>
                </a:solidFill>
                <a:latin typeface="Aptos"/>
              </a:rPr>
              <a:t>Large top-of-funnel population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90088" y="4370832"/>
            <a:ext cx="438912" cy="36576"/>
          </a:xfrm>
          <a:prstGeom prst="rect">
            <a:avLst/>
          </a:prstGeom>
          <a:solidFill>
            <a:srgbClr val="E4E0D8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520440" y="4315968"/>
            <a:ext cx="164592" cy="164592"/>
          </a:xfrm>
          <a:prstGeom prst="ellipse">
            <a:avLst/>
          </a:prstGeom>
          <a:solidFill>
            <a:srgbClr val="227E79"/>
          </a:solidFill>
          <a:ln>
            <a:solidFill>
              <a:srgbClr val="227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31336" y="418795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232F"/>
                </a:solidFill>
                <a:latin typeface="Aptos"/>
              </a:rPr>
              <a:t>Mains qualified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31336" y="4590288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178"/>
                </a:solidFill>
                <a:latin typeface="Aptos"/>
              </a:rPr>
              <a:t>Much smaller pool reaches the next stage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33288" y="4370832"/>
            <a:ext cx="438912" cy="36576"/>
          </a:xfrm>
          <a:prstGeom prst="rect">
            <a:avLst/>
          </a:prstGeom>
          <a:solidFill>
            <a:srgbClr val="E4E0D8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263640" y="4315968"/>
            <a:ext cx="164592" cy="164592"/>
          </a:xfrm>
          <a:prstGeom prst="ellipse">
            <a:avLst/>
          </a:prstGeom>
          <a:solidFill>
            <a:srgbClr val="227E79"/>
          </a:solidFill>
          <a:ln>
            <a:solidFill>
              <a:srgbClr val="227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74536" y="418795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232F"/>
                </a:solidFill>
                <a:latin typeface="Aptos"/>
              </a:rPr>
              <a:t>Interview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4536" y="4590288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178"/>
                </a:solidFill>
                <a:latin typeface="Aptos"/>
              </a:rPr>
              <a:t>Pool narrows further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76488" y="4370832"/>
            <a:ext cx="438912" cy="36576"/>
          </a:xfrm>
          <a:prstGeom prst="rect">
            <a:avLst/>
          </a:prstGeom>
          <a:solidFill>
            <a:srgbClr val="E4E0D8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006840" y="4315968"/>
            <a:ext cx="164592" cy="164592"/>
          </a:xfrm>
          <a:prstGeom prst="ellipse">
            <a:avLst/>
          </a:prstGeom>
          <a:solidFill>
            <a:srgbClr val="D67E36"/>
          </a:solidFill>
          <a:ln>
            <a:solidFill>
              <a:srgbClr val="D6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17736" y="418795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232F"/>
                </a:solidFill>
                <a:latin typeface="Aptos"/>
              </a:rPr>
              <a:t>Recommended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7736" y="4590288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178"/>
                </a:solidFill>
                <a:latin typeface="Aptos"/>
              </a:rPr>
              <a:t>Final annual recommendation 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623560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178"/>
                </a:solidFill>
                <a:latin typeface="Aptos"/>
              </a:rPr>
              <a:t>The dashboard shows every annual observation; endpoint changes are used here only to quantify the overall movement.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8"/>
                </a:solidFill>
                <a:latin typeface="Aptos"/>
              </a:rPr>
              <a:t>UPSC CIVIL SERVICES EXAMINATION  |  PORTFOLIO 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17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05  |  CONVERSION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232F"/>
                </a:solidFill>
                <a:latin typeface="Aptos"/>
              </a:rPr>
              <a:t>More candidates reached the final stage, while the recommendation rate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81077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697178"/>
                </a:solidFill>
                <a:latin typeface="Aptos"/>
              </a:rPr>
              <a:t>Absolute counts and rates answer different questions — both are needed to interpret the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8"/>
                </a:solidFill>
                <a:latin typeface="Aptos"/>
              </a:rPr>
              <a:t>UPSC CIVIL SERVICES EXAMINATION  | 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178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31546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73152" cy="1600200"/>
          </a:xfrm>
          <a:prstGeom prst="rect">
            <a:avLst/>
          </a:prstGeom>
          <a:solidFill>
            <a:srgbClr val="D67E36"/>
          </a:solidFill>
          <a:ln>
            <a:solidFill>
              <a:srgbClr val="D6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39696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178"/>
                </a:solidFill>
                <a:latin typeface="Aptos"/>
              </a:rPr>
              <a:t>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8232F"/>
                </a:solidFill>
                <a:latin typeface="Aptos"/>
              </a:rPr>
              <a:t>829 → 1,009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178"/>
                </a:solidFill>
                <a:latin typeface="Aptos"/>
              </a:rPr>
              <a:t>+21.7% across 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938528"/>
            <a:ext cx="31546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60520" y="1938528"/>
            <a:ext cx="73152" cy="1600200"/>
          </a:xfrm>
          <a:prstGeom prst="rect">
            <a:avLst/>
          </a:prstGeom>
          <a:solidFill>
            <a:srgbClr val="227E79"/>
          </a:solidFill>
          <a:ln>
            <a:solidFill>
              <a:srgbClr val="227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2139696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178"/>
                </a:solidFill>
                <a:latin typeface="Aptos"/>
              </a:rPr>
              <a:t>RECOMMENDATION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450592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8232F"/>
                </a:solidFill>
                <a:latin typeface="Aptos"/>
              </a:rPr>
              <a:t>40.76% → 35.47%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063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178"/>
                </a:solidFill>
                <a:latin typeface="Aptos"/>
              </a:rPr>
              <a:t>−5.29 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938528"/>
            <a:ext cx="31546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35240" y="1938528"/>
            <a:ext cx="73152" cy="1600200"/>
          </a:xfrm>
          <a:prstGeom prst="rect">
            <a:avLst/>
          </a:prstGeom>
          <a:solidFill>
            <a:srgbClr val="18232F"/>
          </a:solidFill>
          <a:ln>
            <a:solidFill>
              <a:srgbClr val="18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2139696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178"/>
                </a:solidFill>
                <a:latin typeface="Aptos"/>
              </a:rPr>
              <a:t>WHAT THIS PREVENTS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450592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8232F"/>
                </a:solidFill>
                <a:latin typeface="Aptos"/>
              </a:rPr>
              <a:t>Count ≠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063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178"/>
                </a:solidFill>
                <a:latin typeface="Aptos"/>
              </a:rPr>
              <a:t>avoid a misleading single metric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10104120" cy="1417320"/>
          </a:xfrm>
          <a:prstGeom prst="roundRect">
            <a:avLst>
              <a:gd name="adj" fmla="val 8000"/>
            </a:avLst>
          </a:prstGeom>
          <a:solidFill>
            <a:srgbClr val="E0EFED"/>
          </a:solidFill>
          <a:ln>
            <a:solidFill>
              <a:srgbClr val="E0E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23367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27E79"/>
                </a:solidFill>
                <a:latin typeface="Aptos"/>
              </a:rPr>
              <a:t>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160520"/>
            <a:ext cx="8138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32F"/>
                </a:solidFill>
                <a:latin typeface="Aptos"/>
              </a:rPr>
              <a:t>The number recommended increased across the endpoints, but recommendations represented a smaller share of candidates who appeared.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892040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178"/>
                </a:solidFill>
                <a:latin typeface="Aptos"/>
              </a:rPr>
              <a:t>This is an observed relationship in the annual data; the project does not establish why the rate changed.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8"/>
                </a:solidFill>
                <a:latin typeface="Aptos"/>
              </a:rPr>
              <a:t>UPSC CIVIL SERVICES EXAMINATION  |  PORTFOLIO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17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06  |  CAPACITY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232F"/>
                </a:solidFill>
                <a:latin typeface="Aptos"/>
              </a:rPr>
              <a:t>Vacancies add context to the recommendation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7178"/>
                </a:solidFill>
                <a:latin typeface="Aptos"/>
              </a:rPr>
              <a:t>The dashboard places annual vacancies beside final recommendations instead of treating recommendations in isolation.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8"/>
                </a:solidFill>
                <a:latin typeface="Aptos"/>
              </a:rPr>
              <a:t>UPSC CIVIL SERVICES EXAMINATION  | 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178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3794760" cy="3063240"/>
          </a:xfrm>
          <a:prstGeom prst="roundRect">
            <a:avLst>
              <a:gd name="adj" fmla="val 8000"/>
            </a:avLst>
          </a:prstGeom>
          <a:solidFill>
            <a:srgbClr val="18232F"/>
          </a:solidFill>
          <a:ln>
            <a:solidFill>
              <a:srgbClr val="18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26771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DD7D3"/>
                </a:solidFill>
                <a:latin typeface="Aptos"/>
              </a:rPr>
              <a:t>2019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9748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1868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D1D7"/>
                </a:solidFill>
                <a:latin typeface="Aptos"/>
              </a:rPr>
              <a:t>recommended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697480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B97D"/>
                </a:solidFill>
                <a:latin typeface="Aptos"/>
              </a:rPr>
              <a:t>927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D1D7"/>
                </a:solidFill>
                <a:latin typeface="Aptos"/>
              </a:rPr>
              <a:t>vacancies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0690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89.43%  recommendation-to-vacancy ratio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920240"/>
            <a:ext cx="65379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38928" y="226771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D67E36"/>
                </a:solidFill>
                <a:latin typeface="Aptos"/>
              </a:rPr>
              <a:t>Important distinction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670048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232F"/>
                </a:solidFill>
                <a:latin typeface="Aptos"/>
              </a:rPr>
              <a:t>The recommendation-to-vacancy ratio is a comparison of two annual totals.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3218688"/>
            <a:ext cx="557784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178"/>
                </a:solidFill>
                <a:latin typeface="Aptos"/>
              </a:rPr>
              <a:t>It should not be described as an individual candidate's probability of selection. Vacancies and recommendations are related administrative totals, not a candidate-level selection rate.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4315968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178"/>
                </a:solidFill>
                <a:latin typeface="Aptos"/>
              </a:rPr>
              <a:t>2024 vacancy values are retained from the source table and can be inspected directly in the Power BI dashboard.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8"/>
                </a:solidFill>
                <a:latin typeface="Aptos"/>
              </a:rPr>
              <a:t>UPSC CIVIL SERVICES EXAMINATION  |  PORTFOLIO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178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07  |  WHAT THE ANALYSIS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232F"/>
                </a:solidFill>
                <a:latin typeface="Aptos"/>
              </a:rPr>
              <a:t>Four observations from the six-year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7178"/>
                </a:solidFill>
                <a:latin typeface="Aptos"/>
              </a:rPr>
              <a:t>These are descriptive findings from the 2019–2024 annual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dirty="0">
                <a:solidFill>
                  <a:srgbClr val="697178"/>
                </a:solidFill>
                <a:latin typeface="Aptos"/>
              </a:rPr>
              <a:t>UPSC CIVIL SERVICES EXAMINATION  | 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178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216712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8232F"/>
                </a:solidFill>
                <a:latin typeface="Aptos"/>
              </a:rPr>
              <a:t>Participation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596896"/>
            <a:ext cx="3703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97178"/>
                </a:solidFill>
                <a:latin typeface="Aptos"/>
              </a:rPr>
              <a:t>Appearance rate increased from 50.8% in 2019 to 58.8% in 2024.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38528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67E36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216712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8232F"/>
                </a:solidFill>
                <a:latin typeface="Aptos"/>
              </a:rPr>
              <a:t>Progression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2596896"/>
            <a:ext cx="3703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97178"/>
                </a:solidFill>
                <a:latin typeface="Aptos"/>
              </a:rPr>
              <a:t>Mains-qualified candidates increased by 23.5% across the endpoints; interview counts rose 39.9%.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67328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023360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99592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8232F"/>
                </a:solidFill>
                <a:latin typeface="Aptos"/>
              </a:rPr>
              <a:t>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425696"/>
            <a:ext cx="3703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97178"/>
                </a:solidFill>
                <a:latin typeface="Aptos"/>
              </a:rPr>
              <a:t>Final recommendations increased by 21.7% across the endpoints, while recommendation rate fell 5.29 pp.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767328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4023360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67E36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399592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8232F"/>
                </a:solidFill>
                <a:latin typeface="Aptos"/>
              </a:rPr>
              <a:t>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8" y="4425696"/>
            <a:ext cx="3703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97178"/>
                </a:solidFill>
                <a:latin typeface="Aptos"/>
              </a:rPr>
              <a:t>Vacancies provide capacity context, but vacancy-to-recommendation comparisons are not candidate-level selection probabilities.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76072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178"/>
                </a:solidFill>
                <a:latin typeface="Aptos"/>
              </a:rPr>
              <a:t>Read the six-year dashboard for the year-by-year pattern; the figures above are selected summary points, not a substitute for the full trend.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178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DD7D3"/>
                </a:solidFill>
                <a:latin typeface="Aptos"/>
              </a:rPr>
              <a:t>08  | 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FFFFFF"/>
                </a:solidFill>
                <a:latin typeface="Aptos"/>
              </a:rPr>
              <a:t>The analysis in one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613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C6CDD3"/>
                </a:solidFill>
                <a:latin typeface="Aptos"/>
              </a:rPr>
              <a:t>Power BI dashboard  •  2019–2024  •  Year filter  •  KPI cards  •  Trend &amp; funnel 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47088"/>
            <a:ext cx="10881360" cy="3977639"/>
          </a:xfrm>
          <a:prstGeom prst="roundRect">
            <a:avLst>
              <a:gd name="adj" fmla="val 8000"/>
            </a:avLst>
          </a:prstGeom>
          <a:solidFill>
            <a:srgbClr val="EBE8E2"/>
          </a:solidFill>
          <a:ln>
            <a:solidFill>
              <a:srgbClr val="5F6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8"/>
                </a:solidFill>
                <a:latin typeface="Aptos"/>
              </a:rPr>
              <a:t>UPSC CIVIL SERVICES EXAMINATION  |  PORTFOLIO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178"/>
                </a:solidFill>
                <a:latin typeface="Aptos"/>
              </a:rPr>
              <a:t>09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47A2C8-191D-2E93-3505-43071CC30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76172"/>
            <a:ext cx="10881360" cy="5097781"/>
          </a:xfrm>
          <a:prstGeom prst="rect">
            <a:avLst/>
          </a:prstGeom>
          <a:ln>
            <a:solidFill>
              <a:srgbClr val="FFFF00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09  |  PORTFOLIO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232F"/>
                </a:solidFill>
                <a:latin typeface="Aptos"/>
              </a:rPr>
              <a:t>A compact example of end-to-end analytics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7178"/>
                </a:solidFill>
                <a:latin typeface="Aptos"/>
              </a:rPr>
              <a:t>The value of the project is the workflow as much as the final chart.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8"/>
                </a:solidFill>
                <a:latin typeface="Aptos"/>
              </a:rPr>
              <a:t>UPSC CIVIL SERVICES EXAMINATION  | 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178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246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2677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974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8232F"/>
                </a:solidFill>
                <a:latin typeface="Aptos"/>
              </a:rPr>
              <a:t>Prepare &amp; 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273552"/>
            <a:ext cx="2697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178"/>
                </a:solidFill>
                <a:latin typeface="Aptos"/>
              </a:rPr>
              <a:t>Turn raw annual figures into a consistent analytical 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246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22677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67E36"/>
                </a:solidFill>
                <a:latin typeface="Aptos"/>
              </a:rPr>
              <a:t>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6974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8232F"/>
                </a:solidFill>
                <a:latin typeface="Aptos"/>
              </a:rPr>
              <a:t>Measure &amp; explain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273552"/>
            <a:ext cx="2697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178"/>
                </a:solidFill>
                <a:latin typeface="Aptos"/>
              </a:rPr>
              <a:t>Use SQL and DAX to calculate totals, rates and comparisons.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011680"/>
            <a:ext cx="3246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1" y="22677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7E79"/>
                </a:solidFill>
                <a:latin typeface="Aptos"/>
              </a:rPr>
              <a:t>COMMUNICATE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69748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8232F"/>
                </a:solidFill>
                <a:latin typeface="Aptos"/>
              </a:rPr>
              <a:t>Visualize &amp; 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3273552"/>
            <a:ext cx="2697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178"/>
                </a:solidFill>
                <a:latin typeface="Aptos"/>
              </a:rPr>
              <a:t>Build a focused Power BI view and explain the evidence clearly.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663440"/>
            <a:ext cx="10698480" cy="868680"/>
          </a:xfrm>
          <a:prstGeom prst="roundRect">
            <a:avLst>
              <a:gd name="adj" fmla="val 8000"/>
            </a:avLst>
          </a:prstGeom>
          <a:solidFill>
            <a:srgbClr val="F5E8DB"/>
          </a:solidFill>
          <a:ln>
            <a:solidFill>
              <a:srgbClr val="F5E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9194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8232F"/>
                </a:solidFill>
                <a:latin typeface="Aptos"/>
              </a:rPr>
              <a:t>Built as a Business Analytics portfolio project — with emphasis on structured analysis, reusable metrics and decision-ready communication.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06440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97178"/>
                </a:solidFill>
                <a:latin typeface="Aptos"/>
              </a:rPr>
              <a:t>Ayush Patel  •  SQL | BigQuery | Power BI | DAX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178"/>
                </a:solidFill>
                <a:latin typeface="Aptos"/>
              </a:rPr>
              <a:t>UPSC CIVIL SERVICES EXAMINATION  |  PORTFOLIO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1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1022</Words>
  <Application>Microsoft Office PowerPoint</Application>
  <PresentationFormat>Widescreen</PresentationFormat>
  <Paragraphs>191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Patel</cp:lastModifiedBy>
  <cp:revision>2</cp:revision>
  <dcterms:created xsi:type="dcterms:W3CDTF">2013-01-27T09:14:16Z</dcterms:created>
  <dcterms:modified xsi:type="dcterms:W3CDTF">2026-09-18T04:34:17Z</dcterms:modified>
  <cp:category/>
</cp:coreProperties>
</file>